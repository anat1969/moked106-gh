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256" r:id="rId2"/>
    <p:sldId id="279" r:id="rId3"/>
    <p:sldId id="257" r:id="rId4"/>
    <p:sldId id="261" r:id="rId5"/>
    <p:sldId id="262" r:id="rId6"/>
    <p:sldId id="276" r:id="rId7"/>
    <p:sldId id="280" r:id="rId8"/>
    <p:sldId id="269" r:id="rId9"/>
    <p:sldId id="277" r:id="rId10"/>
    <p:sldId id="278" r:id="rId11"/>
    <p:sldId id="265" r:id="rId12"/>
    <p:sldId id="267" r:id="rId13"/>
    <p:sldId id="266" r:id="rId14"/>
    <p:sldId id="268" r:id="rId15"/>
  </p:sldIdLst>
  <p:sldSz cx="12192000" cy="6858000"/>
  <p:notesSz cx="6797675" cy="9872663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84328"/>
    <a:srgbClr val="FFFF99"/>
    <a:srgbClr val="E6FECA"/>
    <a:srgbClr val="FFCCFF"/>
    <a:srgbClr val="CCCCFF"/>
    <a:srgbClr val="66FFCC"/>
    <a:srgbClr val="99CCFF"/>
    <a:srgbClr val="025F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סגנון ערכת נושא 1 - הדגשה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סגנון ערכת נושא 1 - הדגשה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______________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'reports - 2026-05-04T105617.989'!$B$1</c:f>
              <c:strCache>
                <c:ptCount val="1"/>
                <c:pt idx="0">
                  <c:v>סהכ פניות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'reports - 2026-05-04T105617.989'!$A$2:$A$7</c:f>
              <c:strCache>
                <c:ptCount val="6"/>
                <c:pt idx="0">
                  <c:v>רובע ט"ו</c:v>
                </c:pt>
                <c:pt idx="1">
                  <c:v>רובע ט</c:v>
                </c:pt>
                <c:pt idx="2">
                  <c:v>רובע י</c:v>
                </c:pt>
                <c:pt idx="3">
                  <c:v>רובע י"א</c:v>
                </c:pt>
                <c:pt idx="4">
                  <c:v>רובע י"ז</c:v>
                </c:pt>
                <c:pt idx="5">
                  <c:v>רובע י"ב</c:v>
                </c:pt>
              </c:strCache>
            </c:strRef>
          </c:cat>
          <c:val>
            <c:numRef>
              <c:f>'reports - 2026-05-04T105617.989'!$B$2:$B$7</c:f>
              <c:numCache>
                <c:formatCode>General</c:formatCode>
                <c:ptCount val="6"/>
                <c:pt idx="0">
                  <c:v>22</c:v>
                </c:pt>
                <c:pt idx="1">
                  <c:v>21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3B-4B69-8551-26DF25449D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926787039"/>
        <c:axId val="1926779551"/>
        <c:axId val="0"/>
      </c:bar3DChart>
      <c:catAx>
        <c:axId val="1926787039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926779551"/>
        <c:crosses val="autoZero"/>
        <c:auto val="1"/>
        <c:lblAlgn val="ctr"/>
        <c:lblOffset val="100"/>
        <c:noMultiLvlLbl val="0"/>
      </c:catAx>
      <c:valAx>
        <c:axId val="1926779551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9267870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stacked"/>
        <c:varyColors val="0"/>
        <c:ser>
          <c:idx val="0"/>
          <c:order val="0"/>
          <c:tx>
            <c:strRef>
              <c:f>'reports - 2026-05-04T105938.036'!$B$1</c:f>
              <c:strCache>
                <c:ptCount val="1"/>
                <c:pt idx="0">
                  <c:v>סהכ פניות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'reports - 2026-05-04T105938.036'!$A$2:$A$5</c:f>
              <c:strCache>
                <c:ptCount val="4"/>
                <c:pt idx="0">
                  <c:v>רובע ב</c:v>
                </c:pt>
                <c:pt idx="1">
                  <c:v>רובע ו</c:v>
                </c:pt>
                <c:pt idx="2">
                  <c:v>רובע ה</c:v>
                </c:pt>
                <c:pt idx="3">
                  <c:v>רובע ט"ו</c:v>
                </c:pt>
              </c:strCache>
            </c:strRef>
          </c:cat>
          <c:val>
            <c:numRef>
              <c:f>'reports - 2026-05-04T105938.036'!$B$2:$B$5</c:f>
              <c:numCache>
                <c:formatCode>General</c:formatCode>
                <c:ptCount val="4"/>
                <c:pt idx="0">
                  <c:v>7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7F-4FE9-9862-0B5229E23E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81973183"/>
        <c:axId val="181964031"/>
        <c:axId val="0"/>
      </c:bar3DChart>
      <c:catAx>
        <c:axId val="181973183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1964031"/>
        <c:crosses val="autoZero"/>
        <c:auto val="1"/>
        <c:lblAlgn val="ctr"/>
        <c:lblOffset val="100"/>
        <c:noMultiLvlLbl val="0"/>
      </c:catAx>
      <c:valAx>
        <c:axId val="181964031"/>
        <c:scaling>
          <c:orientation val="minMax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197318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63240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48509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92090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783237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90320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12244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125101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60481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05977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64881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817480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44474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 עם ציטו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30299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או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65985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33316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30770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C8202-CB55-4048-BD12-A9471ACAD545}" type="datetimeFigureOut">
              <a:rPr lang="he-IL" smtClean="0"/>
              <a:t>י"ז/סיון/תשפ"ו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92EECA6-2F20-4469-A100-4FC7157B0128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2591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1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rtl="1" eaLnBrk="1" hangingPunct="1">
        <a:defRPr>
          <a:solidFill>
            <a:schemeClr val="tx2"/>
          </a:solidFill>
        </a:defRPr>
      </a:lvl2pPr>
      <a:lvl3pPr rtl="1" eaLnBrk="1" hangingPunct="1">
        <a:defRPr>
          <a:solidFill>
            <a:schemeClr val="tx2"/>
          </a:solidFill>
        </a:defRPr>
      </a:lvl3pPr>
      <a:lvl4pPr rtl="1" eaLnBrk="1" hangingPunct="1">
        <a:defRPr>
          <a:solidFill>
            <a:schemeClr val="tx2"/>
          </a:solidFill>
        </a:defRPr>
      </a:lvl4pPr>
      <a:lvl5pPr rtl="1" eaLnBrk="1" hangingPunct="1">
        <a:defRPr>
          <a:solidFill>
            <a:schemeClr val="tx2"/>
          </a:solidFill>
        </a:defRPr>
      </a:lvl5pPr>
      <a:lvl6pPr rtl="1" eaLnBrk="1" hangingPunct="1">
        <a:defRPr>
          <a:solidFill>
            <a:schemeClr val="tx2"/>
          </a:solidFill>
        </a:defRPr>
      </a:lvl6pPr>
      <a:lvl7pPr rtl="1" eaLnBrk="1" hangingPunct="1">
        <a:defRPr>
          <a:solidFill>
            <a:schemeClr val="tx2"/>
          </a:solidFill>
        </a:defRPr>
      </a:lvl7pPr>
      <a:lvl8pPr rtl="1" eaLnBrk="1" hangingPunct="1">
        <a:defRPr>
          <a:solidFill>
            <a:schemeClr val="tx2"/>
          </a:solidFill>
        </a:defRPr>
      </a:lvl8pPr>
      <a:lvl9pPr rtl="1" eaLnBrk="1" hangingPunct="1">
        <a:defRPr>
          <a:solidFill>
            <a:schemeClr val="tx2"/>
          </a:solidFill>
        </a:defRPr>
      </a:lvl9pPr>
    </p:titleStyle>
    <p:bodyStyle>
      <a:lvl1pPr marL="342900" indent="-3429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r" defTabSz="457200" rtl="1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4572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589213" y="2514598"/>
            <a:ext cx="4947660" cy="2262781"/>
          </a:xfrm>
        </p:spPr>
        <p:txBody>
          <a:bodyPr/>
          <a:lstStyle/>
          <a:p>
            <a:r>
              <a:rPr lang="he-IL" dirty="0"/>
              <a:t>דוח מוקד עירוני</a:t>
            </a:r>
            <a:br>
              <a:rPr lang="he-IL" dirty="0"/>
            </a:br>
            <a:r>
              <a:rPr lang="he-IL" dirty="0" smtClean="0"/>
              <a:t>מאי </a:t>
            </a:r>
            <a:r>
              <a:rPr lang="he-IL" dirty="0"/>
              <a:t>2026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smtClean="0"/>
              <a:t>1.5-31.5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807027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מציין מיקום תוכן 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74048608"/>
              </p:ext>
            </p:extLst>
          </p:nvPr>
        </p:nvGraphicFramePr>
        <p:xfrm>
          <a:off x="2148330" y="158287"/>
          <a:ext cx="9078011" cy="5922003"/>
        </p:xfrm>
        <a:graphic>
          <a:graphicData uri="http://schemas.openxmlformats.org/drawingml/2006/table">
            <a:tbl>
              <a:tblPr rtl="1" firstRow="1" firstCol="1" bandRow="1"/>
              <a:tblGrid>
                <a:gridCol w="9078011">
                  <a:extLst>
                    <a:ext uri="{9D8B030D-6E8A-4147-A177-3AD203B41FA5}">
                      <a16:colId xmlns:a16="http://schemas.microsoft.com/office/drawing/2014/main" val="299622567"/>
                    </a:ext>
                  </a:extLst>
                </a:gridCol>
              </a:tblGrid>
              <a:tr h="376647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2000" b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להלן תמצית דוח חודש </a:t>
                      </a:r>
                      <a:r>
                        <a:rPr lang="he-IL" sz="2000" b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אפריל </a:t>
                      </a:r>
                      <a:r>
                        <a:rPr lang="he-IL" sz="2000" b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2026 :</a:t>
                      </a:r>
                      <a:endParaRPr lang="en-US" sz="20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6127742"/>
                  </a:ext>
                </a:extLst>
              </a:tr>
              <a:tr h="226018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US" sz="1200" b="1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9104076"/>
                  </a:ext>
                </a:extLst>
              </a:tr>
              <a:tr h="429464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בחודש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אפריל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נפתחו סה"כ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18,711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פניות.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ירידה 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של כ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16%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ביחס לחודש קודם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. </a:t>
                      </a: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(</a:t>
                      </a:r>
                      <a:r>
                        <a:rPr lang="he-IL" sz="12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נציין כי חודש </a:t>
                      </a: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אפריל כלל את חג הפסח ויום העצמאות).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317013"/>
                  </a:ext>
                </a:extLst>
              </a:tr>
              <a:tr h="226018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US" sz="1200" b="1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1121514"/>
                  </a:ext>
                </a:extLst>
              </a:tr>
              <a:tr h="226018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זמן התקן הכללי בחודש זה עומד על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91.9%, עליה של 3.1% ביחס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לחודש קודם.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2503539"/>
                  </a:ext>
                </a:extLst>
              </a:tr>
              <a:tr h="226018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US" sz="1200" b="1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612096"/>
                  </a:ext>
                </a:extLst>
              </a:tr>
              <a:tr h="452035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מתוך 7 מנהלים, </a:t>
                      </a:r>
                      <a:r>
                        <a:rPr lang="he-IL" sz="1200" b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כל המנהלים עומדים מעל </a:t>
                      </a:r>
                      <a:r>
                        <a:rPr lang="he-IL" sz="1200" b="1" u="sng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ל80% ביצוע בזמן </a:t>
                      </a:r>
                      <a:r>
                        <a:rPr lang="he-IL" sz="1200" b="1" u="sng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תקן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. </a:t>
                      </a:r>
                      <a:r>
                        <a:rPr lang="he-IL" sz="1200" b="0" u="non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5 מנהלים שיפרו את הביצוע ביחס לחודש קודם.</a:t>
                      </a:r>
                    </a:p>
                    <a:p>
                      <a:pPr marL="0" lvl="0" indent="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8220996"/>
                  </a:ext>
                </a:extLst>
              </a:tr>
              <a:tr h="904070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10 הנושאים המובילים בכמות פניות, מהווים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כ24.7%%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מכלל הפניות בחודש זה. </a:t>
                      </a:r>
                    </a:p>
                    <a:p>
                      <a:pPr marL="0" lvl="0" indent="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he-IL" sz="1200" b="0" i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        נציין כי גם בחודש זה פינוי אשפה ביתית מהווה את הנושא בעל כמות הפניות הגדולה</a:t>
                      </a:r>
                      <a:r>
                        <a:rPr lang="he-IL" sz="1200" b="0" i="1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 </a:t>
                      </a:r>
                      <a:r>
                        <a:rPr lang="he-IL" sz="1200" b="0" i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ביותר.</a:t>
                      </a:r>
                    </a:p>
                    <a:p>
                      <a:pPr marL="0" marR="0" lvl="0" indent="0" algn="r" defTabSz="4572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Symbol" panose="05050102010706020507" pitchFamily="18" charset="2"/>
                        <a:buNone/>
                        <a:tabLst/>
                        <a:defRPr/>
                      </a:pP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מפת החום מציגה את הפניות שנפתחו בכמויות גדולות בנושאים אלו ע"פ רחובות</a:t>
                      </a:r>
                    </a:p>
                    <a:p>
                      <a:pPr marL="0" lvl="0" indent="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1200" b="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34402130"/>
                  </a:ext>
                </a:extLst>
              </a:tr>
              <a:tr h="678053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10 הנושאים מתחת ל80% עמידה בזמן תקן(בדרוג לפי כמות פניות) מהווים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כ6%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מכלל הפניות החודש.</a:t>
                      </a:r>
                    </a:p>
                    <a:p>
                      <a:pPr marL="0" lvl="0" indent="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      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מפת החום מציגה את הפניות שנפתחו בכמויות גדולות בנושאים אלו ע"פ רחובות</a:t>
                      </a:r>
                    </a:p>
                    <a:p>
                      <a:pPr marL="0" lvl="0" indent="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endParaRPr lang="en-US" sz="1200" b="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581393"/>
                  </a:ext>
                </a:extLst>
              </a:tr>
              <a:tr h="214732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20/80, פרטו(מחלקות) – המחלקות המובילות בכמות פניות  מהוות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53%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מכלל הפניות לחודש זה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. </a:t>
                      </a:r>
                      <a:endParaRPr lang="en-US" sz="12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9287575"/>
                  </a:ext>
                </a:extLst>
              </a:tr>
              <a:tr h="668079">
                <a:tc>
                  <a:txBody>
                    <a:bodyPr/>
                    <a:lstStyle/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כל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המחלקות המובילות  עומדות מעל 80% ביצוע בזמן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התקן.</a:t>
                      </a:r>
                      <a:endParaRPr lang="he-IL" sz="12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r" defTabSz="457200" rtl="1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  </a:t>
                      </a: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2 </a:t>
                      </a:r>
                      <a:r>
                        <a:rPr lang="he-IL" sz="12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מחלקות ירדו </a:t>
                      </a: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בעמידה</a:t>
                      </a:r>
                      <a:r>
                        <a:rPr lang="he-IL" sz="1200" b="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בזמן התקן </a:t>
                      </a: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ביחס </a:t>
                      </a:r>
                      <a:r>
                        <a:rPr lang="he-IL" sz="1200" b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לחודש קודם:</a:t>
                      </a:r>
                      <a:r>
                        <a:rPr lang="he-IL" sz="1200" b="0" i="1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he-IL" sz="1200" b="0" i="1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וטרינר ופיקוח עירוני</a:t>
                      </a:r>
                      <a:endParaRPr lang="en-US" sz="1200" b="0" i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  <a:p>
                      <a:pPr algn="r" rtl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0850060"/>
                  </a:ext>
                </a:extLst>
              </a:tr>
              <a:tr h="226018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US" sz="1200" b="1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3068913"/>
                  </a:ext>
                </a:extLst>
              </a:tr>
              <a:tr h="440669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20/80, פרטו(נושאים)-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למעט 2 נושאים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–שאר הנושאים עומדים בתקן מעל 80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Wingdings" panose="05000000000000000000" pitchFamily="2" charset="2"/>
                          <a:cs typeface="Arial" panose="020B0604020202020204" pitchFamily="34" charset="0"/>
                        </a:rPr>
                        <a:t>%.</a:t>
                      </a:r>
                    </a:p>
                    <a:p>
                      <a:pPr marL="0" lvl="0" indent="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None/>
                      </a:pPr>
                      <a:r>
                        <a:rPr lang="he-IL" sz="1200" b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       נושא</a:t>
                      </a:r>
                      <a:r>
                        <a:rPr lang="he-IL" sz="1200" b="0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Arial" panose="020B0604020202020204" pitchFamily="34" charset="0"/>
                        </a:rPr>
                        <a:t> טפטפת קרועה עומד בביצוע נמוך במיוחד 52.3%</a:t>
                      </a:r>
                      <a:endParaRPr lang="en-US" sz="1200" b="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2838564"/>
                  </a:ext>
                </a:extLst>
              </a:tr>
              <a:tr h="226018">
                <a:tc>
                  <a:txBody>
                    <a:bodyPr/>
                    <a:lstStyle/>
                    <a:p>
                      <a:pPr rtl="1">
                        <a:lnSpc>
                          <a:spcPct val="107000"/>
                        </a:lnSpc>
                      </a:pPr>
                      <a:endParaRPr lang="en-US" sz="1200" b="1" dirty="0">
                        <a:effectLst/>
                        <a:latin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4019767"/>
                  </a:ext>
                </a:extLst>
              </a:tr>
              <a:tr h="402146">
                <a:tc>
                  <a:txBody>
                    <a:bodyPr/>
                    <a:lstStyle/>
                    <a:p>
                      <a:pPr marL="342900" lvl="0" indent="-342900" algn="r" rtl="1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Blip>
                          <a:blip r:embed="rId2"/>
                        </a:buBlip>
                      </a:pP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פילוח פניות ביחס לרובעי העיר- למעט 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תעשיית עורף הנמל, חוף הים ופארק אשדוד ים </a:t>
                      </a:r>
                      <a:r>
                        <a:rPr lang="he-IL" sz="1200" b="1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כל שאר הרובעים עומדים מעל 80% בזמן התקן</a:t>
                      </a:r>
                      <a:r>
                        <a:rPr lang="he-IL" sz="1200" b="1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.</a:t>
                      </a:r>
                      <a:endParaRPr lang="he-IL" sz="1200" b="1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0207" marR="60207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8837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5892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268529" y="-71257"/>
            <a:ext cx="7968981" cy="832398"/>
          </a:xfrm>
        </p:spPr>
        <p:txBody>
          <a:bodyPr>
            <a:normAutofit/>
          </a:bodyPr>
          <a:lstStyle/>
          <a:p>
            <a:pPr algn="ctr"/>
            <a:r>
              <a:rPr lang="he-IL" sz="3200" dirty="0"/>
              <a:t>מנהלים – כמות פניות ואחוז עמידה בתקן</a:t>
            </a:r>
          </a:p>
        </p:txBody>
      </p:sp>
      <p:graphicFrame>
        <p:nvGraphicFramePr>
          <p:cNvPr id="3" name="טבלה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768057"/>
              </p:ext>
            </p:extLst>
          </p:nvPr>
        </p:nvGraphicFramePr>
        <p:xfrm>
          <a:off x="1826560" y="1014788"/>
          <a:ext cx="8852918" cy="5291743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342133">
                  <a:extLst>
                    <a:ext uri="{9D8B030D-6E8A-4147-A177-3AD203B41FA5}">
                      <a16:colId xmlns:a16="http://schemas.microsoft.com/office/drawing/2014/main" val="2455096572"/>
                    </a:ext>
                  </a:extLst>
                </a:gridCol>
                <a:gridCol w="1342133">
                  <a:extLst>
                    <a:ext uri="{9D8B030D-6E8A-4147-A177-3AD203B41FA5}">
                      <a16:colId xmlns:a16="http://schemas.microsoft.com/office/drawing/2014/main" val="132100723"/>
                    </a:ext>
                  </a:extLst>
                </a:gridCol>
                <a:gridCol w="1858339">
                  <a:extLst>
                    <a:ext uri="{9D8B030D-6E8A-4147-A177-3AD203B41FA5}">
                      <a16:colId xmlns:a16="http://schemas.microsoft.com/office/drawing/2014/main" val="2444211640"/>
                    </a:ext>
                  </a:extLst>
                </a:gridCol>
                <a:gridCol w="1342133">
                  <a:extLst>
                    <a:ext uri="{9D8B030D-6E8A-4147-A177-3AD203B41FA5}">
                      <a16:colId xmlns:a16="http://schemas.microsoft.com/office/drawing/2014/main" val="3805463028"/>
                    </a:ext>
                  </a:extLst>
                </a:gridCol>
                <a:gridCol w="1626047">
                  <a:extLst>
                    <a:ext uri="{9D8B030D-6E8A-4147-A177-3AD203B41FA5}">
                      <a16:colId xmlns:a16="http://schemas.microsoft.com/office/drawing/2014/main" val="2732920469"/>
                    </a:ext>
                  </a:extLst>
                </a:gridCol>
                <a:gridCol w="1342133">
                  <a:extLst>
                    <a:ext uri="{9D8B030D-6E8A-4147-A177-3AD203B41FA5}">
                      <a16:colId xmlns:a16="http://schemas.microsoft.com/office/drawing/2014/main" val="1630200673"/>
                    </a:ext>
                  </a:extLst>
                </a:gridCol>
              </a:tblGrid>
              <a:tr h="1464011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מנהל</a:t>
                      </a:r>
                      <a:endParaRPr lang="he-IL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u="none" strike="noStrike" dirty="0" err="1">
                          <a:effectLst/>
                        </a:rPr>
                        <a:t>סהכ</a:t>
                      </a:r>
                      <a:r>
                        <a:rPr lang="he-IL" sz="1100" b="1" u="none" strike="noStrike" dirty="0">
                          <a:effectLst/>
                        </a:rPr>
                        <a:t> פניות</a:t>
                      </a:r>
                      <a:endParaRPr lang="he-IL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אחוז עמידה בתקן </a:t>
                      </a:r>
                    </a:p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חודש </a:t>
                      </a:r>
                      <a:r>
                        <a:rPr lang="he-IL" sz="1100" b="1" u="none" strike="noStrike" dirty="0" smtClean="0">
                          <a:effectLst/>
                        </a:rPr>
                        <a:t>מאי</a:t>
                      </a:r>
                      <a:endParaRPr lang="he-IL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עמידה בתקן - שינוי מחודש </a:t>
                      </a:r>
                    </a:p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קודם</a:t>
                      </a:r>
                      <a:endParaRPr lang="he-IL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אחוז עמידה בתקן </a:t>
                      </a:r>
                    </a:p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שנת 2025</a:t>
                      </a:r>
                      <a:endParaRPr lang="he-IL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u="none" strike="noStrike" dirty="0">
                          <a:effectLst/>
                        </a:rPr>
                        <a:t>פניות חורגות ופתוחות</a:t>
                      </a:r>
                      <a:endParaRPr lang="he-IL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355583148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תפעול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16145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92.10%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</a:t>
                      </a:r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1.80%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89.7%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69091327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יח' מנכ"ל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3092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0.80%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74.1%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064343419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הנדסה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1204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88.50%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-0.40%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73.8%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05886225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חינוך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89.90%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-2.50%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83.9%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557552669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רווחה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80.30%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69.3%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453571233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גזברות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-0.30%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95.1%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651517120"/>
                  </a:ext>
                </a:extLst>
              </a:tr>
              <a:tr h="476340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מינהל כללי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59.4%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46315843"/>
                  </a:ext>
                </a:extLst>
              </a:tr>
              <a:tr h="4933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סהכ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21084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90.50%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-1.40%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87.1%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2627378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8271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803565" y="124296"/>
            <a:ext cx="10728756" cy="679268"/>
          </a:xfrm>
        </p:spPr>
        <p:txBody>
          <a:bodyPr>
            <a:noAutofit/>
          </a:bodyPr>
          <a:lstStyle/>
          <a:p>
            <a:pPr algn="ctr"/>
            <a:r>
              <a:rPr lang="he-IL" sz="2000" b="1" dirty="0"/>
              <a:t>מנהלים מתחת ל 80% עמידה בתקן פניות חורגות</a:t>
            </a:r>
            <a:br>
              <a:rPr lang="he-IL" sz="2000" b="1" dirty="0"/>
            </a:br>
            <a:r>
              <a:rPr lang="he-IL" sz="2000" b="1" dirty="0"/>
              <a:t>בחלוקה לאגפים ומחלקות</a:t>
            </a:r>
          </a:p>
        </p:txBody>
      </p:sp>
      <p:sp>
        <p:nvSpPr>
          <p:cNvPr id="5" name="מלבן 4"/>
          <p:cNvSpPr/>
          <p:nvPr/>
        </p:nvSpPr>
        <p:spPr>
          <a:xfrm>
            <a:off x="2871433" y="4038154"/>
            <a:ext cx="1847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he-IL" sz="1400" b="1" u="sng" dirty="0"/>
          </a:p>
        </p:txBody>
      </p:sp>
      <p:graphicFrame>
        <p:nvGraphicFramePr>
          <p:cNvPr id="14" name="טבלה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547457"/>
              </p:ext>
            </p:extLst>
          </p:nvPr>
        </p:nvGraphicFramePr>
        <p:xfrm>
          <a:off x="4219298" y="929194"/>
          <a:ext cx="3897290" cy="954901"/>
        </p:xfrm>
        <a:graphic>
          <a:graphicData uri="http://schemas.openxmlformats.org/drawingml/2006/table">
            <a:tbl>
              <a:tblPr rtl="1"/>
              <a:tblGrid>
                <a:gridCol w="779458">
                  <a:extLst>
                    <a:ext uri="{9D8B030D-6E8A-4147-A177-3AD203B41FA5}">
                      <a16:colId xmlns:a16="http://schemas.microsoft.com/office/drawing/2014/main" val="391863040"/>
                    </a:ext>
                  </a:extLst>
                </a:gridCol>
                <a:gridCol w="779458">
                  <a:extLst>
                    <a:ext uri="{9D8B030D-6E8A-4147-A177-3AD203B41FA5}">
                      <a16:colId xmlns:a16="http://schemas.microsoft.com/office/drawing/2014/main" val="3456467384"/>
                    </a:ext>
                  </a:extLst>
                </a:gridCol>
                <a:gridCol w="779458">
                  <a:extLst>
                    <a:ext uri="{9D8B030D-6E8A-4147-A177-3AD203B41FA5}">
                      <a16:colId xmlns:a16="http://schemas.microsoft.com/office/drawing/2014/main" val="2064860003"/>
                    </a:ext>
                  </a:extLst>
                </a:gridCol>
                <a:gridCol w="779458">
                  <a:extLst>
                    <a:ext uri="{9D8B030D-6E8A-4147-A177-3AD203B41FA5}">
                      <a16:colId xmlns:a16="http://schemas.microsoft.com/office/drawing/2014/main" val="1486834657"/>
                    </a:ext>
                  </a:extLst>
                </a:gridCol>
                <a:gridCol w="779458">
                  <a:extLst>
                    <a:ext uri="{9D8B030D-6E8A-4147-A177-3AD203B41FA5}">
                      <a16:colId xmlns:a16="http://schemas.microsoft.com/office/drawing/2014/main" val="1773254923"/>
                    </a:ext>
                  </a:extLst>
                </a:gridCol>
              </a:tblGrid>
              <a:tr h="401666">
                <a:tc gridSpan="5"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מס' הפעמים שהמנהל הופיע בדוחות קודמים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2026</a:t>
                      </a:r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4047279"/>
                  </a:ext>
                </a:extLst>
              </a:tr>
              <a:tr h="308128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יחידות מנכל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רווחה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מינהל כללי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2151314"/>
                  </a:ext>
                </a:extLst>
              </a:tr>
              <a:tr h="245107"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endParaRPr lang="he-IL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4939828"/>
                  </a:ext>
                </a:extLst>
              </a:tr>
            </a:tbl>
          </a:graphicData>
        </a:graphic>
      </p:graphicFrame>
      <p:sp>
        <p:nvSpPr>
          <p:cNvPr id="8" name="כותרת 1"/>
          <p:cNvSpPr txBox="1">
            <a:spLocks/>
          </p:cNvSpPr>
          <p:nvPr/>
        </p:nvSpPr>
        <p:spPr>
          <a:xfrm>
            <a:off x="984246" y="3085977"/>
            <a:ext cx="10728756" cy="67926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e-IL" sz="2000" b="1" dirty="0" smtClean="0"/>
              <a:t>חודש </a:t>
            </a:r>
            <a:r>
              <a:rPr lang="he-IL" sz="2000" b="1" dirty="0" smtClean="0"/>
              <a:t>מאי </a:t>
            </a:r>
            <a:r>
              <a:rPr lang="he-IL" sz="2000" b="1" dirty="0" smtClean="0"/>
              <a:t>כל המנהלים עומדים מעל 80% זמן תקן</a:t>
            </a:r>
            <a:endParaRPr lang="he-IL" sz="2000" b="1" dirty="0"/>
          </a:p>
        </p:txBody>
      </p:sp>
      <p:sp>
        <p:nvSpPr>
          <p:cNvPr id="7" name="כותרת 1"/>
          <p:cNvSpPr txBox="1">
            <a:spLocks/>
          </p:cNvSpPr>
          <p:nvPr/>
        </p:nvSpPr>
        <p:spPr>
          <a:xfrm>
            <a:off x="5060326" y="1902821"/>
            <a:ext cx="2215233" cy="23545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e-IL" sz="1100" dirty="0"/>
              <a:t>נתונים מצטברים מה1.1.26</a:t>
            </a:r>
          </a:p>
        </p:txBody>
      </p:sp>
    </p:spTree>
    <p:extLst>
      <p:ext uri="{BB962C8B-B14F-4D97-AF65-F5344CB8AC3E}">
        <p14:creationId xmlns:p14="http://schemas.microsoft.com/office/powerpoint/2010/main" val="19302539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2492958" y="269622"/>
            <a:ext cx="8131050" cy="660315"/>
          </a:xfrm>
        </p:spPr>
        <p:txBody>
          <a:bodyPr>
            <a:noAutofit/>
          </a:bodyPr>
          <a:lstStyle/>
          <a:p>
            <a:pPr algn="ctr"/>
            <a:r>
              <a:rPr lang="he-IL" sz="3200" dirty="0"/>
              <a:t>10 נושאים מובילים </a:t>
            </a:r>
            <a:r>
              <a:rPr lang="he-IL" sz="3200" b="1" dirty="0"/>
              <a:t>בכמות פניות</a:t>
            </a:r>
            <a:r>
              <a:rPr lang="he-IL" sz="3200" dirty="0"/>
              <a:t/>
            </a:r>
            <a:br>
              <a:rPr lang="he-IL" sz="3200" dirty="0"/>
            </a:br>
            <a:endParaRPr lang="he-IL" sz="800" b="1" dirty="0"/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365436"/>
              </p:ext>
            </p:extLst>
          </p:nvPr>
        </p:nvGraphicFramePr>
        <p:xfrm>
          <a:off x="2076464" y="1060027"/>
          <a:ext cx="9797145" cy="5154246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1995">
                  <a:extLst>
                    <a:ext uri="{9D8B030D-6E8A-4147-A177-3AD203B41FA5}">
                      <a16:colId xmlns:a16="http://schemas.microsoft.com/office/drawing/2014/main" val="531346470"/>
                    </a:ext>
                  </a:extLst>
                </a:gridCol>
                <a:gridCol w="175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5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5003">
                <a:tc>
                  <a:txBody>
                    <a:bodyPr/>
                    <a:lstStyle/>
                    <a:p>
                      <a:pPr algn="ctr" rtl="1"/>
                      <a:endParaRPr lang="he-IL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מחלקה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נושא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זמן תקן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סהכ</a:t>
                      </a:r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פניות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אחוז עמידה בתקן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שרותי אשפה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פינוי אשפה ביתית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000:16:00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1677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85.70%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68239679"/>
                  </a:ext>
                </a:extLst>
              </a:tr>
              <a:tr h="354476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פיקוח עירוני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רכב נטוש-עם מספרים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060:00:00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3969907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שרותי ניקיון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גזם וגרוטאות לפינוי מנוף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002:00:00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97.80%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564436"/>
                  </a:ext>
                </a:extLst>
              </a:tr>
              <a:tr h="445723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וטרינר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חיות פצועות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001:00:00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511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57454891"/>
                  </a:ext>
                </a:extLst>
              </a:tr>
              <a:tr h="496380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אחזקת דרכים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בעיות ריצוף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014:00:00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87.30%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8185502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פיקוח חניה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רכב חונה חוסם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98.80%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9072690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הדברה</a:t>
                      </a: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יתושים</a:t>
                      </a: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002:00:00</a:t>
                      </a: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358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83.80%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נטיעות אחזקה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טפטפת / צינור השקיה קרוע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000:06:00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45.60%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398128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שרותי אשפה</a:t>
                      </a: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מפגעי קבלן אשפה כללי</a:t>
                      </a: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030:00:00</a:t>
                      </a:r>
                      <a:endParaRPr lang="he-IL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100.00%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marR="0" lvl="0" indent="0" algn="ctr" defTabSz="457200" rtl="1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שרותי ניקיון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ניקיון רחובות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002:00:00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319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97.20%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9178426"/>
                  </a:ext>
                </a:extLst>
              </a:tr>
            </a:tbl>
          </a:graphicData>
        </a:graphic>
      </p:graphicFrame>
      <p:sp>
        <p:nvSpPr>
          <p:cNvPr id="5" name="מלבן 4"/>
          <p:cNvSpPr/>
          <p:nvPr/>
        </p:nvSpPr>
        <p:spPr>
          <a:xfrm>
            <a:off x="2871433" y="4038154"/>
            <a:ext cx="1847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he-IL" sz="1400" b="1" u="sng" dirty="0"/>
          </a:p>
        </p:txBody>
      </p:sp>
    </p:spTree>
    <p:extLst>
      <p:ext uri="{BB962C8B-B14F-4D97-AF65-F5344CB8AC3E}">
        <p14:creationId xmlns:p14="http://schemas.microsoft.com/office/powerpoint/2010/main" val="183637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883683" y="171623"/>
            <a:ext cx="8911687" cy="714496"/>
          </a:xfrm>
        </p:spPr>
        <p:txBody>
          <a:bodyPr>
            <a:normAutofit/>
          </a:bodyPr>
          <a:lstStyle/>
          <a:p>
            <a:pPr algn="ctr"/>
            <a:r>
              <a:rPr lang="he-IL" sz="3200" u="sng" dirty="0">
                <a:solidFill>
                  <a:prstClr val="black">
                    <a:lumMod val="85000"/>
                    <a:lumOff val="15000"/>
                  </a:prstClr>
                </a:solidFill>
              </a:rPr>
              <a:t>מפת חום </a:t>
            </a:r>
            <a:r>
              <a:rPr lang="he-IL" sz="3200" dirty="0">
                <a:solidFill>
                  <a:prstClr val="black">
                    <a:lumMod val="85000"/>
                    <a:lumOff val="15000"/>
                  </a:prstClr>
                </a:solidFill>
              </a:rPr>
              <a:t>- 10 נושאים מובילים בכמות פניות</a:t>
            </a:r>
            <a:endParaRPr lang="he-IL" sz="3200" dirty="0"/>
          </a:p>
        </p:txBody>
      </p:sp>
      <p:sp>
        <p:nvSpPr>
          <p:cNvPr id="5" name="כותרת 1"/>
          <p:cNvSpPr txBox="1">
            <a:spLocks/>
          </p:cNvSpPr>
          <p:nvPr/>
        </p:nvSpPr>
        <p:spPr>
          <a:xfrm>
            <a:off x="8133655" y="6231973"/>
            <a:ext cx="3942082" cy="6315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r"/>
            <a:r>
              <a:rPr lang="he-IL" sz="1000" dirty="0"/>
              <a:t>הטבלה מציגה נושאים בפילוח לרחובות. </a:t>
            </a:r>
          </a:p>
          <a:p>
            <a:pPr algn="r"/>
            <a:r>
              <a:rPr lang="he-IL" sz="1000" dirty="0"/>
              <a:t>ומצביעה על מיקומים בהם קיים ריבוי פניות בנושאים המובילים.</a:t>
            </a:r>
          </a:p>
          <a:p>
            <a:pPr algn="r"/>
            <a:r>
              <a:rPr lang="he-IL" sz="1000" dirty="0"/>
              <a:t>מיקומים בעלי מספר פניות גבוה מסומנים בצהוב. </a:t>
            </a:r>
          </a:p>
          <a:p>
            <a:pPr algn="r"/>
            <a:endParaRPr lang="he-IL" sz="1000" dirty="0"/>
          </a:p>
        </p:txBody>
      </p:sp>
      <p:graphicFrame>
        <p:nvGraphicFramePr>
          <p:cNvPr id="4" name="טבלה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146766"/>
              </p:ext>
            </p:extLst>
          </p:nvPr>
        </p:nvGraphicFramePr>
        <p:xfrm>
          <a:off x="2168167" y="1244344"/>
          <a:ext cx="8842339" cy="4515432"/>
        </p:xfrm>
        <a:graphic>
          <a:graphicData uri="http://schemas.openxmlformats.org/drawingml/2006/table">
            <a:tbl>
              <a:tblPr rtl="1"/>
              <a:tblGrid>
                <a:gridCol w="1220610">
                  <a:extLst>
                    <a:ext uri="{9D8B030D-6E8A-4147-A177-3AD203B41FA5}">
                      <a16:colId xmlns:a16="http://schemas.microsoft.com/office/drawing/2014/main" val="821697520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2319481711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306889267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3288421940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91852137"/>
                    </a:ext>
                  </a:extLst>
                </a:gridCol>
                <a:gridCol w="809009">
                  <a:extLst>
                    <a:ext uri="{9D8B030D-6E8A-4147-A177-3AD203B41FA5}">
                      <a16:colId xmlns:a16="http://schemas.microsoft.com/office/drawing/2014/main" val="1008855849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3454116422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4285652473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1052694844"/>
                    </a:ext>
                  </a:extLst>
                </a:gridCol>
                <a:gridCol w="668090">
                  <a:extLst>
                    <a:ext uri="{9D8B030D-6E8A-4147-A177-3AD203B41FA5}">
                      <a16:colId xmlns:a16="http://schemas.microsoft.com/office/drawing/2014/main" val="3715161547"/>
                    </a:ext>
                  </a:extLst>
                </a:gridCol>
                <a:gridCol w="694454">
                  <a:extLst>
                    <a:ext uri="{9D8B030D-6E8A-4147-A177-3AD203B41FA5}">
                      <a16:colId xmlns:a16="http://schemas.microsoft.com/office/drawing/2014/main" val="2901686727"/>
                    </a:ext>
                  </a:extLst>
                </a:gridCol>
                <a:gridCol w="681272">
                  <a:extLst>
                    <a:ext uri="{9D8B030D-6E8A-4147-A177-3AD203B41FA5}">
                      <a16:colId xmlns:a16="http://schemas.microsoft.com/office/drawing/2014/main" val="241605464"/>
                    </a:ext>
                  </a:extLst>
                </a:gridCol>
              </a:tblGrid>
              <a:tr h="718357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רחוב / נושא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בדיקת ביוב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בעיות ריצוף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גזם וגרוטאות לפינוי מנוף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חיות פצועות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טפטפת / צינור השקיה קרוע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ניקיון רחובות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פינוי אשפה ביתית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פינוי פגר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רכב חונה חוסם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רכב נטוש-עם מספרים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סכום כולל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974241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הרותם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3729773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נתן אלבז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5351426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שבי ציון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805534"/>
                  </a:ext>
                </a:extLst>
              </a:tr>
              <a:tr h="356384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אליעזר בן </a:t>
                      </a:r>
                      <a:r>
                        <a:rPr lang="he-IL" sz="1000" b="0" i="0" u="none" strike="noStrike" dirty="0" err="1">
                          <a:effectLst/>
                          <a:latin typeface="Calibri" panose="020F0502020204030204" pitchFamily="34" charset="0"/>
                        </a:rPr>
                        <a:t>הורקנוס</a:t>
                      </a:r>
                      <a:endParaRPr lang="he-IL" sz="10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7196133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המעפילים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244159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העבודה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4917573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הפלמ"ח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4358568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שד רוטשילד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57996640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קרן היסוד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4910750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רב ינאי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785638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דב גור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7668290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שמעון מזרחי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2284068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שד תל חי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00840120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מצדה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1531603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כנרת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0358384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שלמה בן יוסף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62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1023959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הציונות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8896125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 err="1">
                          <a:effectLst/>
                          <a:latin typeface="Calibri" panose="020F0502020204030204" pitchFamily="34" charset="0"/>
                        </a:rPr>
                        <a:t>רוגוזין</a:t>
                      </a:r>
                      <a:endParaRPr lang="he-IL" sz="10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66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8674514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העצמאות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113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480141"/>
                  </a:ext>
                </a:extLst>
              </a:tr>
              <a:tr h="18108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סכום כולל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238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337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818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377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265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1388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250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367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effectLst/>
                          <a:latin typeface="Calibri" panose="020F0502020204030204" pitchFamily="34" charset="0"/>
                        </a:rPr>
                        <a:t>338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effectLst/>
                          <a:latin typeface="Calibri" panose="020F0502020204030204" pitchFamily="34" charset="0"/>
                        </a:rPr>
                        <a:t>4621</a:t>
                      </a:r>
                    </a:p>
                  </a:txBody>
                  <a:tcPr marL="5037" marR="5037" marT="503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5678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4736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338401" y="0"/>
            <a:ext cx="8911687" cy="488253"/>
          </a:xfrm>
        </p:spPr>
        <p:txBody>
          <a:bodyPr>
            <a:normAutofit fontScale="90000"/>
          </a:bodyPr>
          <a:lstStyle/>
          <a:p>
            <a:r>
              <a:rPr lang="he-IL" u="sng" dirty="0">
                <a:solidFill>
                  <a:prstClr val="black">
                    <a:lumMod val="85000"/>
                    <a:lumOff val="15000"/>
                  </a:prstClr>
                </a:solidFill>
              </a:rPr>
              <a:t>מפת חום </a:t>
            </a:r>
            <a:r>
              <a:rPr lang="he-IL" dirty="0">
                <a:solidFill>
                  <a:prstClr val="black">
                    <a:lumMod val="85000"/>
                    <a:lumOff val="15000"/>
                  </a:prstClr>
                </a:solidFill>
              </a:rPr>
              <a:t>- 10 נושאים מובילים בכמות פניות</a:t>
            </a:r>
            <a:endParaRPr lang="he-IL" dirty="0"/>
          </a:p>
        </p:txBody>
      </p:sp>
      <p:graphicFrame>
        <p:nvGraphicFramePr>
          <p:cNvPr id="7" name="טבלה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8934892"/>
              </p:ext>
            </p:extLst>
          </p:nvPr>
        </p:nvGraphicFramePr>
        <p:xfrm>
          <a:off x="446315" y="631596"/>
          <a:ext cx="11459739" cy="6158256"/>
        </p:xfrm>
        <a:graphic>
          <a:graphicData uri="http://schemas.openxmlformats.org/drawingml/2006/table">
            <a:tbl>
              <a:tblPr rtl="1"/>
              <a:tblGrid>
                <a:gridCol w="1778551">
                  <a:extLst>
                    <a:ext uri="{9D8B030D-6E8A-4147-A177-3AD203B41FA5}">
                      <a16:colId xmlns:a16="http://schemas.microsoft.com/office/drawing/2014/main" val="4250428708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3768343116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1765452020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88827220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3156381590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1238032922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2514003274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3089654019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1236049214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2324442858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2338542264"/>
                    </a:ext>
                  </a:extLst>
                </a:gridCol>
                <a:gridCol w="880108">
                  <a:extLst>
                    <a:ext uri="{9D8B030D-6E8A-4147-A177-3AD203B41FA5}">
                      <a16:colId xmlns:a16="http://schemas.microsoft.com/office/drawing/2014/main" val="558700662"/>
                    </a:ext>
                  </a:extLst>
                </a:gridCol>
              </a:tblGrid>
              <a:tr h="304594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רחוב/נושא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אבחון רכב נטוש-עם מספרים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בעיות ריצוף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גזם וגרוטאות לפינוי מנוף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חיות פצועות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טפטפת / צינור השקיה קרוע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יתושים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מפגעי קבלן אשפה כללי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ניקיון רחובות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פינוי אשפה ביתית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רכב חונה חוסם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סכום כולל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7536956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רובע א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381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06946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הראשונים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7134748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שבי ציון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155210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רובע ב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95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360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849525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המעפילים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8338532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הרב קוק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1084371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יוספטל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12131986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רובע ג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262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363480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הפלמ"ח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9057929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ד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56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162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422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0471232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אריה בן אליעזר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9968155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השייטים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305988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קרן היסוד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78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98432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 err="1">
                          <a:effectLst/>
                          <a:latin typeface="Calibri" panose="020F0502020204030204" pitchFamily="34" charset="0"/>
                        </a:rPr>
                        <a:t>רוגוזין</a:t>
                      </a:r>
                      <a:endParaRPr lang="he-IL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5359297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הסיטי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937675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העצמאות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134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007775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הציונות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2490533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הקריה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15967432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ו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83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402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5327671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אברהם שפירא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93610898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דב גור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7209403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יהודה המכבי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9090309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 err="1">
                          <a:effectLst/>
                          <a:latin typeface="Calibri" panose="020F0502020204030204" pitchFamily="34" charset="0"/>
                        </a:rPr>
                        <a:t>מיכשוילי</a:t>
                      </a:r>
                      <a:endParaRPr lang="he-IL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8962336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נתן אלבז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658244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שלמה בן יוסף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355362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ז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334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658256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מאיר בעל הנס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709769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רב ינאי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0389293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 err="1">
                          <a:effectLst/>
                          <a:latin typeface="Calibri" panose="020F0502020204030204" pitchFamily="34" charset="0"/>
                        </a:rPr>
                        <a:t>רשב"י</a:t>
                      </a:r>
                      <a:endParaRPr lang="he-IL" sz="800" b="1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5933955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ח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330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660261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הכלנית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4010155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הרותם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9430594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ט"ו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251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118014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מארק שאגאל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1126291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נחמן סירקין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01028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שד רוטשילד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492886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שד תל חי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819677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רובע ט"ז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96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209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533953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אפרסמון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388558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effectLst/>
                          <a:latin typeface="Calibri" panose="020F0502020204030204" pitchFamily="34" charset="0"/>
                        </a:rPr>
                        <a:t>מנגו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95807949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רובע י"א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123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142538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כנרת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6582380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מצדה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7895540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נחל לכיש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1161220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רובע י"ז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97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185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588353"/>
                  </a:ext>
                </a:extLst>
              </a:tr>
              <a:tr h="76149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שהם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9794700"/>
                  </a:ext>
                </a:extLst>
              </a:tr>
              <a:tr h="78774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effectLst/>
                          <a:latin typeface="Calibri" panose="020F0502020204030204" pitchFamily="34" charset="0"/>
                        </a:rPr>
                        <a:t>סכום כולל</a:t>
                      </a:r>
                    </a:p>
                  </a:txBody>
                  <a:tcPr marL="2626" marR="2626" marT="2626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678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426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638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511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342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358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325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319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1677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>
                          <a:effectLst/>
                          <a:latin typeface="Calibri" panose="020F0502020204030204" pitchFamily="34" charset="0"/>
                        </a:rPr>
                        <a:t>425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0" i="0" u="none" strike="noStrike" dirty="0">
                          <a:effectLst/>
                          <a:latin typeface="Calibri" panose="020F0502020204030204" pitchFamily="34" charset="0"/>
                        </a:rPr>
                        <a:t>5699</a:t>
                      </a:r>
                    </a:p>
                  </a:txBody>
                  <a:tcPr marL="2626" marR="2626" marT="26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63771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457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659117" y="141402"/>
            <a:ext cx="9720808" cy="1197205"/>
          </a:xfrm>
          <a:ln>
            <a:solidFill>
              <a:srgbClr val="FFFF00"/>
            </a:solidFill>
          </a:ln>
        </p:spPr>
        <p:txBody>
          <a:bodyPr>
            <a:noAutofit/>
          </a:bodyPr>
          <a:lstStyle/>
          <a:p>
            <a:pPr algn="ctr"/>
            <a:r>
              <a:rPr lang="he-IL" sz="2400" dirty="0"/>
              <a:t>10 נושאים מובילים</a:t>
            </a:r>
            <a:br>
              <a:rPr lang="he-IL" sz="2400" dirty="0"/>
            </a:br>
            <a:r>
              <a:rPr lang="he-IL" sz="2400" dirty="0"/>
              <a:t> באחוז עמידה בזמן תקן </a:t>
            </a:r>
            <a:r>
              <a:rPr lang="he-IL" sz="2400" b="1" dirty="0"/>
              <a:t>מתחת ל80%</a:t>
            </a:r>
            <a:r>
              <a:rPr lang="he-IL" sz="2400" dirty="0"/>
              <a:t>.</a:t>
            </a:r>
            <a:br>
              <a:rPr lang="he-IL" sz="2400" dirty="0"/>
            </a:br>
            <a:r>
              <a:rPr lang="he-IL" sz="2400" dirty="0"/>
              <a:t> בדרוג לפי כמות </a:t>
            </a:r>
            <a:r>
              <a:rPr lang="he-IL" sz="2400" dirty="0" smtClean="0"/>
              <a:t>פניות</a:t>
            </a:r>
            <a:r>
              <a:rPr lang="he-IL" sz="3600" b="1" dirty="0">
                <a:solidFill>
                  <a:srgbClr val="FF0000"/>
                </a:solidFill>
              </a:rPr>
              <a:t/>
            </a:r>
            <a:br>
              <a:rPr lang="he-IL" sz="3600" b="1" dirty="0">
                <a:solidFill>
                  <a:srgbClr val="FF0000"/>
                </a:solidFill>
              </a:rPr>
            </a:br>
            <a:endParaRPr lang="he-IL" sz="900" b="1" dirty="0">
              <a:solidFill>
                <a:srgbClr val="FF0000"/>
              </a:solidFill>
            </a:endParaRPr>
          </a:p>
        </p:txBody>
      </p:sp>
      <p:graphicFrame>
        <p:nvGraphicFramePr>
          <p:cNvPr id="6" name="טבלה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775594"/>
              </p:ext>
            </p:extLst>
          </p:nvPr>
        </p:nvGraphicFramePr>
        <p:xfrm>
          <a:off x="1582780" y="1178351"/>
          <a:ext cx="9797145" cy="5105054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571995">
                  <a:extLst>
                    <a:ext uri="{9D8B030D-6E8A-4147-A177-3AD203B41FA5}">
                      <a16:colId xmlns:a16="http://schemas.microsoft.com/office/drawing/2014/main" val="531346470"/>
                    </a:ext>
                  </a:extLst>
                </a:gridCol>
                <a:gridCol w="17539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61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69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29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50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5003">
                <a:tc>
                  <a:txBody>
                    <a:bodyPr/>
                    <a:lstStyle/>
                    <a:p>
                      <a:pPr algn="ctr" rtl="1"/>
                      <a:endParaRPr lang="he-IL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מחלקה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נושא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זמן תקן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סהכ פניות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אחוז עמידה בתקן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נטיעות אחזקה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טפטפת / צינור השקיה קרוע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000:06:00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52.7%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568239679"/>
                  </a:ext>
                </a:extLst>
              </a:tr>
              <a:tr h="354476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משטרה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איתור בעל רכב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000:00:25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151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43.0%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3969907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שרותי אשפה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אשפה מסביב למכולת אשפה/טמון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000:04:00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77.3%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20564436"/>
                  </a:ext>
                </a:extLst>
              </a:tr>
              <a:tr h="445723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נטיעות אחזקה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גן ציבורי מלוכלך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002:00:00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69.2%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57454891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marR="0" lvl="0" indent="0" algn="ctr" defTabSz="457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שיטור עירוני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טרקטורונים/אופנועים/ רכב הנוסע בחופים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000:00:45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67.3%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838185502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שיטור עירוני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הומלסים \ זרים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000:00:45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77.0%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609072690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שיטור עירוני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רעש בשטח ציבורי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000:00:45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64.5%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שיטור עירוני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רעש מוזיקה מבית פרטי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000:00:45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74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66.2%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18398128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algn="ctr" defTabSz="457200" rtl="0" eaLnBrk="1" fontAlgn="b" latinLnBrk="0" hangingPunct="1"/>
                      <a:r>
                        <a:rPr lang="he-IL" sz="16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בטחון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שריפה(בטחון סיור)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75.0%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8952">
                <a:tc>
                  <a:txBody>
                    <a:bodyPr/>
                    <a:lstStyle/>
                    <a:p>
                      <a:pPr marL="0" marR="0" lvl="0" indent="0" algn="ctr" defTabSz="457200" rtl="1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600" b="1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+mn-cs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נטיעות אחזקה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ספסל שבור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010:00:00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71.1%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89178426"/>
                  </a:ext>
                </a:extLst>
              </a:tr>
            </a:tbl>
          </a:graphicData>
        </a:graphic>
      </p:graphicFrame>
      <p:sp>
        <p:nvSpPr>
          <p:cNvPr id="5" name="מלבן 4"/>
          <p:cNvSpPr/>
          <p:nvPr/>
        </p:nvSpPr>
        <p:spPr>
          <a:xfrm>
            <a:off x="2871433" y="4038154"/>
            <a:ext cx="1847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he-IL" sz="1400" b="1" u="sng" dirty="0"/>
          </a:p>
        </p:txBody>
      </p:sp>
    </p:spTree>
    <p:extLst>
      <p:ext uri="{BB962C8B-B14F-4D97-AF65-F5344CB8AC3E}">
        <p14:creationId xmlns:p14="http://schemas.microsoft.com/office/powerpoint/2010/main" val="31596432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838780" y="190477"/>
            <a:ext cx="8911687" cy="1148130"/>
          </a:xfrm>
        </p:spPr>
        <p:txBody>
          <a:bodyPr>
            <a:normAutofit fontScale="90000"/>
          </a:bodyPr>
          <a:lstStyle/>
          <a:p>
            <a:pPr algn="ctr"/>
            <a:r>
              <a:rPr lang="he-IL" u="sng" dirty="0"/>
              <a:t>מפת חום </a:t>
            </a:r>
            <a:r>
              <a:rPr lang="he-IL" dirty="0"/>
              <a:t>- 10 נושאים מובילים</a:t>
            </a:r>
            <a:br>
              <a:rPr lang="he-IL" dirty="0"/>
            </a:br>
            <a:r>
              <a:rPr lang="he-IL" dirty="0"/>
              <a:t> </a:t>
            </a:r>
            <a:r>
              <a:rPr lang="he-IL" sz="2700" dirty="0"/>
              <a:t>באחוז עמידה בזמן תקן </a:t>
            </a:r>
            <a:r>
              <a:rPr lang="he-IL" sz="2700" b="1" dirty="0"/>
              <a:t>מתחת ל80%</a:t>
            </a:r>
            <a:r>
              <a:rPr lang="he-IL" sz="2700" dirty="0"/>
              <a:t>, בדרוג לפי כמות פניות.</a:t>
            </a:r>
            <a:r>
              <a:rPr lang="he-IL" dirty="0"/>
              <a:t/>
            </a:r>
            <a:br>
              <a:rPr lang="he-IL" dirty="0"/>
            </a:br>
            <a:endParaRPr lang="he-IL" dirty="0"/>
          </a:p>
        </p:txBody>
      </p:sp>
      <p:graphicFrame>
        <p:nvGraphicFramePr>
          <p:cNvPr id="4" name="מציין מיקום תוכן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943037"/>
              </p:ext>
            </p:extLst>
          </p:nvPr>
        </p:nvGraphicFramePr>
        <p:xfrm>
          <a:off x="1932496" y="1527134"/>
          <a:ext cx="9351389" cy="4864239"/>
        </p:xfrm>
        <a:graphic>
          <a:graphicData uri="http://schemas.openxmlformats.org/drawingml/2006/table">
            <a:tbl>
              <a:tblPr rtl="1"/>
              <a:tblGrid>
                <a:gridCol w="1656687">
                  <a:extLst>
                    <a:ext uri="{9D8B030D-6E8A-4147-A177-3AD203B41FA5}">
                      <a16:colId xmlns:a16="http://schemas.microsoft.com/office/drawing/2014/main" val="2569074685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3048028027"/>
                    </a:ext>
                  </a:extLst>
                </a:gridCol>
                <a:gridCol w="876265">
                  <a:extLst>
                    <a:ext uri="{9D8B030D-6E8A-4147-A177-3AD203B41FA5}">
                      <a16:colId xmlns:a16="http://schemas.microsoft.com/office/drawing/2014/main" val="1280682672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724310304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3704435353"/>
                    </a:ext>
                  </a:extLst>
                </a:gridCol>
                <a:gridCol w="794114">
                  <a:extLst>
                    <a:ext uri="{9D8B030D-6E8A-4147-A177-3AD203B41FA5}">
                      <a16:colId xmlns:a16="http://schemas.microsoft.com/office/drawing/2014/main" val="3336716124"/>
                    </a:ext>
                  </a:extLst>
                </a:gridCol>
                <a:gridCol w="766731">
                  <a:extLst>
                    <a:ext uri="{9D8B030D-6E8A-4147-A177-3AD203B41FA5}">
                      <a16:colId xmlns:a16="http://schemas.microsoft.com/office/drawing/2014/main" val="1994700317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293117193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126481902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1377692126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202091763"/>
                    </a:ext>
                  </a:extLst>
                </a:gridCol>
                <a:gridCol w="657199">
                  <a:extLst>
                    <a:ext uri="{9D8B030D-6E8A-4147-A177-3AD203B41FA5}">
                      <a16:colId xmlns:a16="http://schemas.microsoft.com/office/drawing/2014/main" val="1414665529"/>
                    </a:ext>
                  </a:extLst>
                </a:gridCol>
              </a:tblGrid>
              <a:tr h="972847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רחוב/ נושא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איתור בעל רכב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אשפה מסביב למכולת אשפה/טמון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גן ציבורי מלוכלך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הומלסים \ זרים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טפטפת / צינור השקיה קרוע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טרקטורונים/אופנועים/ רכב הנוסע בחופים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ספסל שבור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רעש בשטח ציבורי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רעש מוזיקה מבית פרטי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שריפה(בטחון סיור)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Calibri" panose="020F0502020204030204" pitchFamily="34" charset="0"/>
                        </a:rPr>
                        <a:t>סכום כולל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6453766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אברהם שפירא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0391560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אליעזר בן הורקנוס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4969009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נתן אלבז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3102912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שד רוטשילד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1774976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כנרת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9307919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משה דיין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7188902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רוגוזין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8554667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שבי ציון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3308040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הטיילת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4709121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שד תל חי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38893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חוף אורנים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0564219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הציונות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11072527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חוף באר שבע(ט"ו)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93351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העצמאות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895857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חוף הקשתות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1" i="0" u="none" strike="noStrike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4042676"/>
                  </a:ext>
                </a:extLst>
              </a:tr>
              <a:tr h="243212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סכום כולל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151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243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104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76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1106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073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6986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584462" y="-65988"/>
            <a:ext cx="8785781" cy="742777"/>
          </a:xfrm>
        </p:spPr>
        <p:txBody>
          <a:bodyPr>
            <a:normAutofit/>
          </a:bodyPr>
          <a:lstStyle/>
          <a:p>
            <a:pPr algn="r"/>
            <a:r>
              <a:rPr lang="he-IL" sz="3200" dirty="0" smtClean="0"/>
              <a:t>ניתוח נושאים בחריגה מזמן תקן</a:t>
            </a:r>
            <a:endParaRPr lang="he-IL" sz="32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72151" y="614406"/>
            <a:ext cx="10001839" cy="1257276"/>
          </a:xfrm>
        </p:spPr>
        <p:txBody>
          <a:bodyPr/>
          <a:lstStyle/>
          <a:p>
            <a:pPr marL="0" indent="0">
              <a:buNone/>
            </a:pPr>
            <a:r>
              <a:rPr lang="he-IL" dirty="0" smtClean="0"/>
              <a:t>מיתוך 243 פניות 116 פניות חורגות, 52.7% עמידה בתקן.</a:t>
            </a:r>
          </a:p>
          <a:p>
            <a:pPr marL="0" indent="0">
              <a:buNone/>
            </a:pPr>
            <a:r>
              <a:rPr lang="he-IL" b="1" dirty="0" smtClean="0">
                <a:solidFill>
                  <a:srgbClr val="FF0000"/>
                </a:solidFill>
              </a:rPr>
              <a:t>זמן הטיפול הממוצע ב116 הפניות החורגות הינו 47 שעות , כאשר זמן התקן הינו 6 שעות לטיפול</a:t>
            </a:r>
            <a:r>
              <a:rPr lang="he-IL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he-IL" dirty="0" smtClean="0"/>
              <a:t>רובעים בעלי כמות פניות גדולה בחריגה </a:t>
            </a:r>
            <a:r>
              <a:rPr lang="he-IL" b="1" dirty="0" smtClean="0"/>
              <a:t>רובע ט, רובע ט"ו</a:t>
            </a:r>
            <a:endParaRPr lang="he-IL" b="1" dirty="0"/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9789734" y="305400"/>
            <a:ext cx="1758101" cy="4509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sz="2000" b="1" u="sng" dirty="0" smtClean="0"/>
              <a:t>טפטפת קרועה</a:t>
            </a:r>
            <a:endParaRPr lang="he-IL" sz="2000" b="1" u="sng" dirty="0"/>
          </a:p>
        </p:txBody>
      </p:sp>
      <p:sp>
        <p:nvSpPr>
          <p:cNvPr id="6" name="כותרת 1"/>
          <p:cNvSpPr txBox="1">
            <a:spLocks/>
          </p:cNvSpPr>
          <p:nvPr/>
        </p:nvSpPr>
        <p:spPr>
          <a:xfrm>
            <a:off x="8844698" y="3506401"/>
            <a:ext cx="2988297" cy="45091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sz="1800" b="1" u="sng" dirty="0" smtClean="0"/>
              <a:t>רעש בשטח ציבורי/ פרטי</a:t>
            </a:r>
            <a:endParaRPr lang="he-IL" sz="1800" b="1" u="sng" dirty="0"/>
          </a:p>
        </p:txBody>
      </p:sp>
      <p:sp>
        <p:nvSpPr>
          <p:cNvPr id="7" name="מציין מיקום תוכן 2"/>
          <p:cNvSpPr txBox="1">
            <a:spLocks/>
          </p:cNvSpPr>
          <p:nvPr/>
        </p:nvSpPr>
        <p:spPr>
          <a:xfrm>
            <a:off x="1472152" y="3919610"/>
            <a:ext cx="10001839" cy="1821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457200" rtl="1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he-IL" dirty="0" smtClean="0"/>
              <a:t>בשני הנושאים העוסקים ברעש, מתוך 150 פניות 52 פניות חורגות, עמידה בזמן תקן 65.3%.</a:t>
            </a:r>
          </a:p>
          <a:p>
            <a:pPr marL="0" indent="0">
              <a:buNone/>
            </a:pPr>
            <a:r>
              <a:rPr lang="he-IL" b="1" dirty="0">
                <a:solidFill>
                  <a:srgbClr val="FF0000"/>
                </a:solidFill>
              </a:rPr>
              <a:t>זמן הטיפול הממוצע </a:t>
            </a:r>
            <a:r>
              <a:rPr lang="he-IL" b="1" dirty="0" smtClean="0">
                <a:solidFill>
                  <a:srgbClr val="FF0000"/>
                </a:solidFill>
              </a:rPr>
              <a:t>ב52 </a:t>
            </a:r>
            <a:r>
              <a:rPr lang="he-IL" b="1" dirty="0">
                <a:solidFill>
                  <a:srgbClr val="FF0000"/>
                </a:solidFill>
              </a:rPr>
              <a:t>הפניות החורגות הינו </a:t>
            </a:r>
            <a:r>
              <a:rPr lang="he-IL" b="1" dirty="0" smtClean="0">
                <a:solidFill>
                  <a:srgbClr val="FF0000"/>
                </a:solidFill>
              </a:rPr>
              <a:t>57 דק' </a:t>
            </a:r>
            <a:r>
              <a:rPr lang="he-IL" b="1" dirty="0">
                <a:solidFill>
                  <a:srgbClr val="FF0000"/>
                </a:solidFill>
              </a:rPr>
              <a:t>, כאשר זמן התקן הינו </a:t>
            </a:r>
            <a:r>
              <a:rPr lang="he-IL" b="1" dirty="0" smtClean="0">
                <a:solidFill>
                  <a:srgbClr val="FF0000"/>
                </a:solidFill>
              </a:rPr>
              <a:t>45 דק' לטיפול</a:t>
            </a:r>
            <a:r>
              <a:rPr lang="he-IL" b="1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he-IL" dirty="0" smtClean="0"/>
              <a:t>רובעים </a:t>
            </a:r>
            <a:r>
              <a:rPr lang="he-IL" dirty="0"/>
              <a:t>בעלי כמות פניות גדולה בחריגה </a:t>
            </a:r>
            <a:r>
              <a:rPr lang="he-IL" b="1" dirty="0"/>
              <a:t>רובע </a:t>
            </a:r>
            <a:r>
              <a:rPr lang="he-IL" b="1" dirty="0" smtClean="0"/>
              <a:t>ב, </a:t>
            </a:r>
            <a:r>
              <a:rPr lang="he-IL" b="1" dirty="0"/>
              <a:t>רובע </a:t>
            </a:r>
            <a:r>
              <a:rPr lang="he-IL" b="1" dirty="0" smtClean="0"/>
              <a:t>ו, רובע ה, רובע ט"ו</a:t>
            </a:r>
            <a:endParaRPr lang="he-IL" b="1" dirty="0"/>
          </a:p>
          <a:p>
            <a:pPr marL="0" indent="0">
              <a:buFont typeface="Wingdings 3" charset="2"/>
              <a:buNone/>
            </a:pPr>
            <a:endParaRPr lang="he-IL" dirty="0" smtClean="0"/>
          </a:p>
          <a:p>
            <a:pPr marL="0" indent="0">
              <a:buFont typeface="Wingdings 3" charset="2"/>
              <a:buNone/>
            </a:pPr>
            <a:endParaRPr lang="he-IL" dirty="0"/>
          </a:p>
        </p:txBody>
      </p:sp>
      <p:graphicFrame>
        <p:nvGraphicFramePr>
          <p:cNvPr id="8" name="תרשים 7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9609520"/>
              </p:ext>
            </p:extLst>
          </p:nvPr>
        </p:nvGraphicFramePr>
        <p:xfrm>
          <a:off x="5463617" y="1921727"/>
          <a:ext cx="6644327" cy="1534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תרשים 8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7002750"/>
              </p:ext>
            </p:extLst>
          </p:nvPr>
        </p:nvGraphicFramePr>
        <p:xfrm>
          <a:off x="5123466" y="5092878"/>
          <a:ext cx="7068534" cy="17651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860044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4593502" y="335080"/>
            <a:ext cx="4365770" cy="652611"/>
          </a:xfrm>
        </p:spPr>
        <p:txBody>
          <a:bodyPr>
            <a:noAutofit/>
          </a:bodyPr>
          <a:lstStyle/>
          <a:p>
            <a:r>
              <a:rPr lang="he-IL" sz="2800" dirty="0"/>
              <a:t>דוח 20/80- מחלקות</a:t>
            </a:r>
            <a:endParaRPr lang="he-IL" sz="700" b="1" dirty="0"/>
          </a:p>
        </p:txBody>
      </p:sp>
      <p:sp>
        <p:nvSpPr>
          <p:cNvPr id="7" name="כותרת 1"/>
          <p:cNvSpPr txBox="1">
            <a:spLocks/>
          </p:cNvSpPr>
          <p:nvPr/>
        </p:nvSpPr>
        <p:spPr>
          <a:xfrm>
            <a:off x="4521330" y="1084505"/>
            <a:ext cx="3383281" cy="32076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he-IL" sz="2000" u="sng" dirty="0"/>
              <a:t>20% מהמחלקות שמהוות 80% מהפניות:</a:t>
            </a:r>
          </a:p>
        </p:txBody>
      </p:sp>
      <p:graphicFrame>
        <p:nvGraphicFramePr>
          <p:cNvPr id="3" name="טבלה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623975"/>
              </p:ext>
            </p:extLst>
          </p:nvPr>
        </p:nvGraphicFramePr>
        <p:xfrm>
          <a:off x="2064911" y="1649694"/>
          <a:ext cx="8709925" cy="451544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988440">
                  <a:extLst>
                    <a:ext uri="{9D8B030D-6E8A-4147-A177-3AD203B41FA5}">
                      <a16:colId xmlns:a16="http://schemas.microsoft.com/office/drawing/2014/main" val="141993660"/>
                    </a:ext>
                  </a:extLst>
                </a:gridCol>
                <a:gridCol w="1344297">
                  <a:extLst>
                    <a:ext uri="{9D8B030D-6E8A-4147-A177-3AD203B41FA5}">
                      <a16:colId xmlns:a16="http://schemas.microsoft.com/office/drawing/2014/main" val="2454780418"/>
                    </a:ext>
                  </a:extLst>
                </a:gridCol>
                <a:gridCol w="1344297">
                  <a:extLst>
                    <a:ext uri="{9D8B030D-6E8A-4147-A177-3AD203B41FA5}">
                      <a16:colId xmlns:a16="http://schemas.microsoft.com/office/drawing/2014/main" val="1864475932"/>
                    </a:ext>
                  </a:extLst>
                </a:gridCol>
                <a:gridCol w="1344297">
                  <a:extLst>
                    <a:ext uri="{9D8B030D-6E8A-4147-A177-3AD203B41FA5}">
                      <a16:colId xmlns:a16="http://schemas.microsoft.com/office/drawing/2014/main" val="1539952863"/>
                    </a:ext>
                  </a:extLst>
                </a:gridCol>
                <a:gridCol w="1344297">
                  <a:extLst>
                    <a:ext uri="{9D8B030D-6E8A-4147-A177-3AD203B41FA5}">
                      <a16:colId xmlns:a16="http://schemas.microsoft.com/office/drawing/2014/main" val="765408880"/>
                    </a:ext>
                  </a:extLst>
                </a:gridCol>
                <a:gridCol w="1344297">
                  <a:extLst>
                    <a:ext uri="{9D8B030D-6E8A-4147-A177-3AD203B41FA5}">
                      <a16:colId xmlns:a16="http://schemas.microsoft.com/office/drawing/2014/main" val="3055606576"/>
                    </a:ext>
                  </a:extLst>
                </a:gridCol>
              </a:tblGrid>
              <a:tr h="1035968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מחלקה / קבוצה</a:t>
                      </a:r>
                    </a:p>
                  </a:txBody>
                  <a:tcPr marL="6350" marR="6350" marT="6350" marB="0" anchor="ctr">
                    <a:solidFill>
                      <a:srgbClr val="A8432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סהכ</a:t>
                      </a:r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פניות</a:t>
                      </a:r>
                    </a:p>
                  </a:txBody>
                  <a:tcPr marL="6350" marR="6350" marT="6350" marB="0" anchor="ctr">
                    <a:solidFill>
                      <a:srgbClr val="A8432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אחוז שינוי בכמות הפניות מחודש קודם</a:t>
                      </a:r>
                    </a:p>
                  </a:txBody>
                  <a:tcPr marL="6350" marR="6350" marT="6350" marB="0" anchor="ctr">
                    <a:solidFill>
                      <a:srgbClr val="A8432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אחוז עמידה בתקן - חודש נוכחי</a:t>
                      </a:r>
                    </a:p>
                  </a:txBody>
                  <a:tcPr marL="6350" marR="6350" marT="6350" marB="0" anchor="ctr">
                    <a:solidFill>
                      <a:srgbClr val="A8432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אחוז שינוי בתקן ביחס חודש קודם</a:t>
                      </a:r>
                    </a:p>
                  </a:txBody>
                  <a:tcPr marL="6350" marR="6350" marT="6350" marB="0" anchor="ctr">
                    <a:solidFill>
                      <a:srgbClr val="A8432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חורגות ופתוחות</a:t>
                      </a:r>
                    </a:p>
                  </a:txBody>
                  <a:tcPr marL="6350" marR="6350" marT="6350" marB="0" anchor="ctr">
                    <a:solidFill>
                      <a:srgbClr val="A843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19808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שירותי אשפה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2178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-39%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05844954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שירותי ניקיון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1636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1.00%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198800036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נטיעות אחזקה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1308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80.80%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66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08798455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פיקוח עירוני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1172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-25%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36730959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אחזקת דרכים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1098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48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12284552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פיקוח חניה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96.20%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8.50%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750801410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סיירת מוקד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783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-28%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96.90%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2.40%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577726061"/>
                  </a:ext>
                </a:extLst>
              </a:tr>
              <a:tr h="434934">
                <a:tc>
                  <a:txBody>
                    <a:bodyPr/>
                    <a:lstStyle/>
                    <a:p>
                      <a:pPr algn="ctr" rtl="1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וטרינר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727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99.60%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-0.10%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78190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81667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498296" y="122549"/>
            <a:ext cx="5846618" cy="810706"/>
          </a:xfrm>
        </p:spPr>
        <p:txBody>
          <a:bodyPr>
            <a:noAutofit/>
          </a:bodyPr>
          <a:lstStyle/>
          <a:p>
            <a:pPr lvl="0" algn="ctr" defTabSz="914400">
              <a:spcBef>
                <a:spcPts val="0"/>
              </a:spcBef>
            </a:pPr>
            <a:r>
              <a:rPr lang="he-IL" sz="1800" u="sng" dirty="0"/>
              <a:t>ליבת הפעילות-</a:t>
            </a:r>
            <a:r>
              <a:rPr lang="he-IL" sz="1800" dirty="0"/>
              <a:t/>
            </a:r>
            <a:br>
              <a:rPr lang="he-IL" sz="1800" dirty="0"/>
            </a:br>
            <a:r>
              <a:rPr lang="he-IL" sz="1800" u="sng" dirty="0">
                <a:solidFill>
                  <a:prstClr val="black"/>
                </a:solidFill>
              </a:rPr>
              <a:t>פירוט הנושאים שמהווים 80% מהפניות במחלקות מובילות:</a:t>
            </a:r>
            <a:br>
              <a:rPr lang="he-IL" sz="1800" u="sng" dirty="0">
                <a:solidFill>
                  <a:prstClr val="black"/>
                </a:solidFill>
              </a:rPr>
            </a:br>
            <a:endParaRPr lang="he-IL" sz="1800" dirty="0"/>
          </a:p>
        </p:txBody>
      </p:sp>
      <p:graphicFrame>
        <p:nvGraphicFramePr>
          <p:cNvPr id="3" name="טבלה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112014"/>
              </p:ext>
            </p:extLst>
          </p:nvPr>
        </p:nvGraphicFramePr>
        <p:xfrm>
          <a:off x="2309567" y="1282046"/>
          <a:ext cx="8917755" cy="4729379"/>
        </p:xfrm>
        <a:graphic>
          <a:graphicData uri="http://schemas.openxmlformats.org/drawingml/2006/table">
            <a:tbl>
              <a:tblPr rtl="1"/>
              <a:tblGrid>
                <a:gridCol w="1239472">
                  <a:extLst>
                    <a:ext uri="{9D8B030D-6E8A-4147-A177-3AD203B41FA5}">
                      <a16:colId xmlns:a16="http://schemas.microsoft.com/office/drawing/2014/main" val="100374099"/>
                    </a:ext>
                  </a:extLst>
                </a:gridCol>
                <a:gridCol w="2414554">
                  <a:extLst>
                    <a:ext uri="{9D8B030D-6E8A-4147-A177-3AD203B41FA5}">
                      <a16:colId xmlns:a16="http://schemas.microsoft.com/office/drawing/2014/main" val="2105875349"/>
                    </a:ext>
                  </a:extLst>
                </a:gridCol>
                <a:gridCol w="837046">
                  <a:extLst>
                    <a:ext uri="{9D8B030D-6E8A-4147-A177-3AD203B41FA5}">
                      <a16:colId xmlns:a16="http://schemas.microsoft.com/office/drawing/2014/main" val="1524917769"/>
                    </a:ext>
                  </a:extLst>
                </a:gridCol>
                <a:gridCol w="837046">
                  <a:extLst>
                    <a:ext uri="{9D8B030D-6E8A-4147-A177-3AD203B41FA5}">
                      <a16:colId xmlns:a16="http://schemas.microsoft.com/office/drawing/2014/main" val="190712801"/>
                    </a:ext>
                  </a:extLst>
                </a:gridCol>
                <a:gridCol w="1641897">
                  <a:extLst>
                    <a:ext uri="{9D8B030D-6E8A-4147-A177-3AD203B41FA5}">
                      <a16:colId xmlns:a16="http://schemas.microsoft.com/office/drawing/2014/main" val="1575944292"/>
                    </a:ext>
                  </a:extLst>
                </a:gridCol>
                <a:gridCol w="1947740">
                  <a:extLst>
                    <a:ext uri="{9D8B030D-6E8A-4147-A177-3AD203B41FA5}">
                      <a16:colId xmlns:a16="http://schemas.microsoft.com/office/drawing/2014/main" val="914182227"/>
                    </a:ext>
                  </a:extLst>
                </a:gridCol>
              </a:tblGrid>
              <a:tr h="351157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מחלקה / קבוצה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נושא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סהכ פניות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זמן תקן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אחוז עמידה בתקן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זמן טיפול ממוצע (תיאור)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422845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שירותי אשפה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פינוי אשפה ביתית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1388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00:16:00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92.80%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9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 שעות ו-39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305117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מפגעי קבלן אשפה כללי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224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030:00:00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 שעות ו-7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684878"/>
                  </a:ext>
                </a:extLst>
              </a:tr>
              <a:tr h="33992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אשפה מסביב למכולת אשפה/טמון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000:04:00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77.30%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שעות ו-38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7234550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שירותי ניקיון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גזם וגרוטאות לפינוי מנוף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818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002:00:00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93.80%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שעות ו-15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267022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ניקיון רחובות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265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002:00:00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94.30%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שעות ו-1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3504756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פינוי פגר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000:03:00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86.40%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 שעות ו-50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56468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נטיעות אחזקה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טפטפת / צינור השקיה קרוע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243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000:06:00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52.30%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שעות ו-41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0587768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ניכוש עשביה ממדרכה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211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030:00:00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שעות ו-59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8315895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עצים לגיזום 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050:00:00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 שעות ו-51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9D0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882317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פיקוח עירוני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מפגעי אשפה\ניקיון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178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007:00:00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 שעות ו-9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2122987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פסולת בניין-הגעה למקום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161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83.90%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שעות ו-13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226951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פריצת ביוב-הגעה למקום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131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82.40%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ו-54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1794396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אחזקת דרכים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בעיות ריצוף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334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014:00:00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93.40%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שעות ו-17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6530961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מפגעי אספלט תיקון סופי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226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030:00:00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30 שעות ו-5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6967451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מפגעי תמרורים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123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005:00:00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95.10%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 שעות ו-57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3285012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פיקוח חניה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רכב חונה חוסם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367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95.10%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ו-53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3419516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חניה אדום לבן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227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000:06:00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98.20%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ו-32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0148288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חניה על מדרכה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152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96.10%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ו-54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485857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סיירת מוקד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בדיקת ביוב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238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000:02:30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95.80%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ו-37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0256333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נזילת מים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179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000:06:00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98.90%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ו-46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205623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פיצוץ מים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101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000:06:00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ו-17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145015"/>
                  </a:ext>
                </a:extLst>
              </a:tr>
              <a:tr h="175578">
                <a:tc rowSpan="3"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וטרינר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חיות פצועות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377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001:00:00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99.50%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 שעות ו-29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4699187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חיות מטרידות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003:00:00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100.00%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שעות ו-42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6649080"/>
                  </a:ext>
                </a:extLst>
              </a:tr>
              <a:tr h="175578">
                <a:tc v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כלב משוטט ללא בעלים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107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000:12:00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99.10%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 שעות ו-57 דקות</a:t>
                      </a:r>
                    </a:p>
                  </a:txBody>
                  <a:tcPr marL="5155" marR="5155" marT="515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47832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3897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/>
          <p:cNvSpPr/>
          <p:nvPr/>
        </p:nvSpPr>
        <p:spPr>
          <a:xfrm>
            <a:off x="2871433" y="4038154"/>
            <a:ext cx="1847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he-IL" sz="1400" b="1" u="sng" dirty="0"/>
          </a:p>
        </p:txBody>
      </p:sp>
      <p:sp>
        <p:nvSpPr>
          <p:cNvPr id="10" name="כותרת 1"/>
          <p:cNvSpPr txBox="1">
            <a:spLocks/>
          </p:cNvSpPr>
          <p:nvPr/>
        </p:nvSpPr>
        <p:spPr>
          <a:xfrm>
            <a:off x="2871433" y="332469"/>
            <a:ext cx="6994689" cy="83239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e-IL" sz="3600" dirty="0"/>
              <a:t>פתיחת פניות יזומות- לפי מנהלים/רובעים</a:t>
            </a:r>
          </a:p>
        </p:txBody>
      </p:sp>
      <p:sp>
        <p:nvSpPr>
          <p:cNvPr id="6" name="כותרת 1"/>
          <p:cNvSpPr txBox="1">
            <a:spLocks/>
          </p:cNvSpPr>
          <p:nvPr/>
        </p:nvSpPr>
        <p:spPr>
          <a:xfrm>
            <a:off x="9860605" y="6372646"/>
            <a:ext cx="2420518" cy="4042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e-IL" sz="1100" dirty="0"/>
              <a:t>כולל פניות כפולות</a:t>
            </a:r>
          </a:p>
        </p:txBody>
      </p:sp>
      <p:sp>
        <p:nvSpPr>
          <p:cNvPr id="7" name="כותרת 1"/>
          <p:cNvSpPr txBox="1">
            <a:spLocks/>
          </p:cNvSpPr>
          <p:nvPr/>
        </p:nvSpPr>
        <p:spPr>
          <a:xfrm>
            <a:off x="4238320" y="1244118"/>
            <a:ext cx="4462021" cy="40426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l" defTabSz="457200" rtl="1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rtl="1" eaLnBrk="1" hangingPunct="1">
              <a:defRPr>
                <a:solidFill>
                  <a:schemeClr val="tx2"/>
                </a:solidFill>
              </a:defRPr>
            </a:lvl2pPr>
            <a:lvl3pPr rtl="1" eaLnBrk="1" hangingPunct="1">
              <a:defRPr>
                <a:solidFill>
                  <a:schemeClr val="tx2"/>
                </a:solidFill>
              </a:defRPr>
            </a:lvl3pPr>
            <a:lvl4pPr rtl="1" eaLnBrk="1" hangingPunct="1">
              <a:defRPr>
                <a:solidFill>
                  <a:schemeClr val="tx2"/>
                </a:solidFill>
              </a:defRPr>
            </a:lvl4pPr>
            <a:lvl5pPr rtl="1" eaLnBrk="1" hangingPunct="1">
              <a:defRPr>
                <a:solidFill>
                  <a:schemeClr val="tx2"/>
                </a:solidFill>
              </a:defRPr>
            </a:lvl5pPr>
            <a:lvl6pPr rtl="1" eaLnBrk="1" hangingPunct="1">
              <a:defRPr>
                <a:solidFill>
                  <a:schemeClr val="tx2"/>
                </a:solidFill>
              </a:defRPr>
            </a:lvl6pPr>
            <a:lvl7pPr rtl="1" eaLnBrk="1" hangingPunct="1">
              <a:defRPr>
                <a:solidFill>
                  <a:schemeClr val="tx2"/>
                </a:solidFill>
              </a:defRPr>
            </a:lvl7pPr>
            <a:lvl8pPr rtl="1" eaLnBrk="1" hangingPunct="1">
              <a:defRPr>
                <a:solidFill>
                  <a:schemeClr val="tx2"/>
                </a:solidFill>
              </a:defRPr>
            </a:lvl8pPr>
            <a:lvl9pPr rtl="1"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he-IL" sz="1600" dirty="0" smtClean="0"/>
              <a:t>אחוז פתיחת פניות כלל המנהלות  15%</a:t>
            </a:r>
            <a:endParaRPr lang="he-IL" sz="1600" dirty="0"/>
          </a:p>
        </p:txBody>
      </p:sp>
      <p:graphicFrame>
        <p:nvGraphicFramePr>
          <p:cNvPr id="3" name="טבלה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539356"/>
              </p:ext>
            </p:extLst>
          </p:nvPr>
        </p:nvGraphicFramePr>
        <p:xfrm>
          <a:off x="1659117" y="2064468"/>
          <a:ext cx="9845494" cy="4157224"/>
        </p:xfrm>
        <a:graphic>
          <a:graphicData uri="http://schemas.openxmlformats.org/drawingml/2006/table">
            <a:tbl>
              <a:tblPr rtl="1"/>
              <a:tblGrid>
                <a:gridCol w="1489144">
                  <a:extLst>
                    <a:ext uri="{9D8B030D-6E8A-4147-A177-3AD203B41FA5}">
                      <a16:colId xmlns:a16="http://schemas.microsoft.com/office/drawing/2014/main" val="3112620642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43629579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3297840505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1519896948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3266170636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2999642819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726613854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1672872833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3569658269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45851413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2882031636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3505380990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451005665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1284750567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3258855146"/>
                    </a:ext>
                  </a:extLst>
                </a:gridCol>
                <a:gridCol w="557090">
                  <a:extLst>
                    <a:ext uri="{9D8B030D-6E8A-4147-A177-3AD203B41FA5}">
                      <a16:colId xmlns:a16="http://schemas.microsoft.com/office/drawing/2014/main" val="3838473435"/>
                    </a:ext>
                  </a:extLst>
                </a:gridCol>
              </a:tblGrid>
              <a:tr h="1133786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רשימת רובעים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אזור התעשיה הכבדה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אזור התעשיה הצפונית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אזור התעשיה הקלה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תעשיות עורף הנמל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ו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ח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א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ב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ג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ד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ה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הסיטי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הקריה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מע"ר דרום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ז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6339491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סהכ</a:t>
                      </a:r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פניות ברובע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234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186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836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1382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1056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929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731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1054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2695436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פניות שנפתחו ע"י המנהלת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69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146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271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268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135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99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015577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אחוז פתיחת פניות ע"י המנהלת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25%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8%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5678008"/>
                  </a:ext>
                </a:extLst>
              </a:tr>
              <a:tr h="755858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רשימת רובעים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ט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מיוחד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ט"ו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ט"ז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י"ז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י"א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י"ב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י"ג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פארק לכיש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מרינה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רצועת החוף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חוף הים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אשדוד ים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סהכ</a:t>
                      </a:r>
                      <a:endParaRPr lang="he-IL" sz="105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0920267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סהכ</a:t>
                      </a:r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פניות ברובע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855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337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441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18710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1120272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פניות שנפתחו ע"י המנהלת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233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177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61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2848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4066957"/>
                  </a:ext>
                </a:extLst>
              </a:tr>
              <a:tr h="37793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105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אחוז פתיחת פניות ע"י המנהלת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28%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19%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32%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he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6%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0%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15%</a:t>
                      </a:r>
                    </a:p>
                  </a:txBody>
                  <a:tcPr marL="4851" marR="4851" marT="48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6457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80745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239091" y="427767"/>
            <a:ext cx="6433287" cy="613563"/>
          </a:xfrm>
        </p:spPr>
        <p:txBody>
          <a:bodyPr>
            <a:normAutofit fontScale="90000"/>
          </a:bodyPr>
          <a:lstStyle/>
          <a:p>
            <a:r>
              <a:rPr lang="he-IL" dirty="0"/>
              <a:t>פילוח פניות ביחס לרובעי העיר</a:t>
            </a:r>
          </a:p>
        </p:txBody>
      </p:sp>
      <p:graphicFrame>
        <p:nvGraphicFramePr>
          <p:cNvPr id="3" name="טבלה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4735649"/>
              </p:ext>
            </p:extLst>
          </p:nvPr>
        </p:nvGraphicFramePr>
        <p:xfrm>
          <a:off x="773009" y="1206632"/>
          <a:ext cx="11161324" cy="4324273"/>
        </p:xfrm>
        <a:graphic>
          <a:graphicData uri="http://schemas.openxmlformats.org/drawingml/2006/table">
            <a:tbl>
              <a:tblPr rtl="1"/>
              <a:tblGrid>
                <a:gridCol w="595551">
                  <a:extLst>
                    <a:ext uri="{9D8B030D-6E8A-4147-A177-3AD203B41FA5}">
                      <a16:colId xmlns:a16="http://schemas.microsoft.com/office/drawing/2014/main" val="3553193365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046904815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981986661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127115764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3879158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587260265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531457384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698906639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132013068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021687439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378941780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109125914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92842980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3054176430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334627002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672205539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404075869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571243311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484019038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012410094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79339015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416645067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3662885284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3512619768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3234190947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809085081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632151408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3076252684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1669031121"/>
                    </a:ext>
                  </a:extLst>
                </a:gridCol>
                <a:gridCol w="364337">
                  <a:extLst>
                    <a:ext uri="{9D8B030D-6E8A-4147-A177-3AD203B41FA5}">
                      <a16:colId xmlns:a16="http://schemas.microsoft.com/office/drawing/2014/main" val="2803016378"/>
                    </a:ext>
                  </a:extLst>
                </a:gridCol>
              </a:tblGrid>
              <a:tr h="938550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רשימת רובעים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אזור התעשיה הכבדה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אזור </a:t>
                      </a:r>
                      <a:r>
                        <a:rPr lang="he-IL" sz="800" b="1" i="0" u="none" strike="noStrike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התעשיה</a:t>
                      </a:r>
                      <a:r>
                        <a:rPr lang="he-I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 הצפונית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אזור התעשיה הקלה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אשדוד ים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חוף הים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מע"ר דרום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מרינה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א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ב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ג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ד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ה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הסיטי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הקריה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ו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ז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ח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ט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ט"ו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ט"ז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י"א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י"ב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י"ג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י"ז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מיוחד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רובע פארק לכיש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רצועת החוף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תעשיות עורף הנמל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651483"/>
                  </a:ext>
                </a:extLst>
              </a:tr>
              <a:tr h="536313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כמות תושבים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17915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9733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24030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16444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16446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21795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17159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21507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17146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10429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10844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7197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8667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18781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15958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11645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5756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9560197"/>
                  </a:ext>
                </a:extLst>
              </a:tr>
              <a:tr h="421387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סהכ</a:t>
                      </a:r>
                      <a:r>
                        <a:rPr lang="he-IL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 פניות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234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242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348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270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1382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1208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929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731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1054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960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983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855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403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593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608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441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167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3085044"/>
                  </a:ext>
                </a:extLst>
              </a:tr>
              <a:tr h="536313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אחוז מתוך </a:t>
                      </a:r>
                      <a:r>
                        <a:rPr lang="he-IL" sz="800" b="1" i="0" u="none" strike="noStrike" kern="1200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הסהכ</a:t>
                      </a:r>
                      <a:endParaRPr lang="he-IL" sz="800" b="1" i="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1.40%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0.10%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2.00%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9.10%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8.40%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7.30%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7.20%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5.80%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7.40%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5.10%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4.70%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3.90%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1.20%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3.00%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1.60%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1.10%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1.30%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0.30%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1363886"/>
                  </a:ext>
                </a:extLst>
              </a:tr>
              <a:tr h="857391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אחוז פניות ביחס לכמות התושבים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7.71%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10.85%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5.03%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5.65%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4.44%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4.84%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5.59%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4.57%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4.88%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7.83%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7.88%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4.68%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4.65%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4.99%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3.72%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5.22%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7.66%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1453237"/>
                  </a:ext>
                </a:extLst>
              </a:tr>
              <a:tr h="498006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אחוז עמידה בתקן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84.9%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77.0%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85.9%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88.8%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92.9%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90.5%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</a:rPr>
                        <a:t>79.3%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016530"/>
                  </a:ext>
                </a:extLst>
              </a:tr>
              <a:tr h="536313">
                <a:tc>
                  <a:txBody>
                    <a:bodyPr/>
                    <a:lstStyle/>
                    <a:p>
                      <a:pPr algn="ctr" rtl="1" fontAlgn="ctr"/>
                      <a:r>
                        <a:rPr lang="he-IL" sz="8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חורגות ופתוחות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14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15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12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he-IL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</a:p>
                  </a:txBody>
                  <a:tcPr marL="2798" marR="2798" marT="279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4741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262866"/>
      </p:ext>
    </p:extLst>
  </p:cSld>
  <p:clrMapOvr>
    <a:masterClrMapping/>
  </p:clrMapOvr>
</p:sld>
</file>

<file path=ppt/theme/theme1.xml><?xml version="1.0" encoding="utf-8"?>
<a:theme xmlns:a="http://schemas.openxmlformats.org/drawingml/2006/main" name="עשן מתפתל">
  <a:themeElements>
    <a:clrScheme name="עשן מתפתל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עשן מתפתל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עשן מתפתל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130502</TotalTime>
  <Words>2947</Words>
  <Application>Microsoft Office PowerPoint</Application>
  <PresentationFormat>מסך רחב</PresentationFormat>
  <Paragraphs>1786</Paragraphs>
  <Slides>14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23" baseType="lpstr">
      <vt:lpstr>Arial</vt:lpstr>
      <vt:lpstr>Calibri</vt:lpstr>
      <vt:lpstr>Century Gothic</vt:lpstr>
      <vt:lpstr>Gisha</vt:lpstr>
      <vt:lpstr>Symbol</vt:lpstr>
      <vt:lpstr>Times New Roman</vt:lpstr>
      <vt:lpstr>Wingdings</vt:lpstr>
      <vt:lpstr>Wingdings 3</vt:lpstr>
      <vt:lpstr>עשן מתפתל</vt:lpstr>
      <vt:lpstr>דוח מוקד עירוני מאי 2026</vt:lpstr>
      <vt:lpstr>מצגת של PowerPoint‏</vt:lpstr>
      <vt:lpstr>מנהלים – כמות פניות ואחוז עמידה בתקן</vt:lpstr>
      <vt:lpstr>מנהלים מתחת ל 80% עמידה בתקן פניות חורגות בחלוקה לאגפים ומחלקות</vt:lpstr>
      <vt:lpstr>10 נושאים מובילים בכמות פניות </vt:lpstr>
      <vt:lpstr>מפת חום - 10 נושאים מובילים בכמות פניות</vt:lpstr>
      <vt:lpstr>מפת חום - 10 נושאים מובילים בכמות פניות</vt:lpstr>
      <vt:lpstr>10 נושאים מובילים  באחוז עמידה בזמן תקן מתחת ל80%.  בדרוג לפי כמות פניות </vt:lpstr>
      <vt:lpstr>מפת חום - 10 נושאים מובילים  באחוז עמידה בזמן תקן מתחת ל80%, בדרוג לפי כמות פניות. </vt:lpstr>
      <vt:lpstr>ניתוח נושאים בחריגה מזמן תקן</vt:lpstr>
      <vt:lpstr>דוח 20/80- מחלקות</vt:lpstr>
      <vt:lpstr>ליבת הפעילות- פירוט הנושאים שמהווים 80% מהפניות במחלקות מובילות: </vt:lpstr>
      <vt:lpstr>מצגת של PowerPoint‏</vt:lpstr>
      <vt:lpstr>פילוח פניות ביחס לרובעי העיר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דוח מוקד עירוני</dc:title>
  <dc:creator>נילי אלמליח</dc:creator>
  <cp:lastModifiedBy>אורן בדש</cp:lastModifiedBy>
  <cp:revision>653</cp:revision>
  <cp:lastPrinted>2026-04-07T05:51:23Z</cp:lastPrinted>
  <dcterms:created xsi:type="dcterms:W3CDTF">2022-04-11T05:33:20Z</dcterms:created>
  <dcterms:modified xsi:type="dcterms:W3CDTF">2026-06-02T09:25:20Z</dcterms:modified>
</cp:coreProperties>
</file>